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5a3d8886-5c0e-efeb-bcfd-22e1c7641f2f}">
          <p14:sldIdLst>
            <p14:sldId id="256"/>
            <p14:sldId id="257"/>
          </p14:sldIdLst>
        </p14:section>
        <p14:section name="Historical background" id="{8f2ca6df-4233-b1cf-ad5c-ed66f0650638}">
          <p14:sldIdLst>
            <p14:sldId id="258"/>
            <p14:sldId id="259"/>
            <p14:sldId id="260"/>
          </p14:sldIdLst>
        </p14:section>
        <p14:section name="The question" id="{620b8bb2-6bd2-5395-3c0b-cbf68c7864aa}">
          <p14:sldIdLst>
            <p14:sldId id="261"/>
            <p14:sldId id="262"/>
          </p14:sldIdLst>
        </p14:section>
        <p14:section name="Producers" id="{f9471e1d-172d-5855-c9d0-7427abc0a4f1}">
          <p14:sldIdLst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Importers" id="{c1ecc3f3-4660-8683-323c-fbcc0409c3aa}">
          <p14:sldIdLst>
            <p14:sldId id="269"/>
            <p14:sldId id="270"/>
            <p14:sldId id="271"/>
            <p14:sldId id="272"/>
            <p14:sldId id="273"/>
          </p14:sldIdLst>
        </p14:section>
        <p14:section name="Model and verdict" id="{b0c599cb-1984-fc29-4199-b28e93009bf5}">
          <p14:sldIdLst>
            <p14:sldId id="274"/>
            <p14:sldId id="275"/>
            <p14:sldId id="276"/>
          </p14:sldIdLst>
        </p14:section>
        <p14:section name="Call to action" id="{fc8e163f-8eb7-5dcc-064a-27e4d0211022}">
          <p14:sldIdLst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for the Mexico context: Sucafina, Mexico origin profile (INMECAFE dismantled in 1989; 70% of producers farm under 10 hectares; 2012 leaf rust cut output by almost half). Perfect Daily Grind, 2017 (production fell from 4.5M to 2.2M bags by 2015/16 amid leaf rust). Naatik Mexico, History of coffee in Mexico.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Title">
    <p:bg>
      <p:bgPr>
        <a:solidFill>
          <a:srgbClr val="151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17320"/>
            <a:ext cx="68580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4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783080"/>
            <a:ext cx="68580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337560"/>
            <a:ext cx="6858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Photo">
    <p:bg>
      <p:bgPr>
        <a:solidFill>
          <a:srgbClr val="151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554480"/>
            <a:ext cx="27432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40280"/>
            <a:ext cx="7315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063240"/>
            <a:ext cx="64008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51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4" name="Text 0"/>
          <p:cNvSpPr/>
          <p:nvPr/>
        </p:nvSpPr>
        <p:spPr>
          <a:xfrm>
            <a:off x="457200" y="4773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A99C"/>
                </a:solidFill>
              </a:rPr>
              <a:t>Data: Kaggle coffee dataset, 1990-2019. Quantities in the source file's units.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5A9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istory">
    <p:bg>
      <p:bgPr>
        <a:solidFill>
          <a:srgbClr val="151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4" name="Text 0"/>
          <p:cNvSpPr/>
          <p:nvPr/>
        </p:nvSpPr>
        <p:spPr>
          <a:xfrm>
            <a:off x="457200" y="4773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A99C"/>
                </a:solidFill>
              </a:rPr>
              <a:t>Historical context from general sources. All numbers are from the dataset.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5A9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151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512064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5A9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 photo" descr="/tmp/claude-0/-home-claude/709e0a8c-32d6-5fa2-98a9-558f49637e18/scratchpad/work/img/cherrie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itle shad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110E">
              <a:alpha val="78000"/>
            </a:srgbClr>
          </a:solidFill>
          <a:ln/>
        </p:spPr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548640" y="14173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</a:rPr>
              <a:t>DATA ANALYSIS PROJECT</a:t>
            </a:r>
            <a:endParaRPr lang="en-US" sz="12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1783080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Inferences from the Coffee Dataset</a:t>
            </a:r>
            <a:endParaRPr lang="en-US" sz="40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548640" y="333756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Thirty years of world coffee production and trade, 1990-2019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By Mercy Olaosebikan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genda photo" descr="/tmp/claude-0/-home-claude/709e0a8c-32d6-5fa2-98a9-558f49637e18/scratchpad/work/img/bean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3566160" cy="5143500"/>
          </a:xfrm>
          <a:prstGeom prst="rect">
            <a:avLst/>
          </a:prstGeom>
        </p:spPr>
      </p:pic>
      <p:sp>
        <p:nvSpPr>
          <p:cNvPr id="3" name="agenda eyebrow"/>
          <p:cNvSpPr txBox="1"/>
          <p:nvPr/>
        </p:nvSpPr>
        <p:spPr>
          <a:xfrm>
            <a:off x="411480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CONTENTS</a:t>
            </a:r>
            <a:endParaRPr lang="en-US" sz="1100" dirty="0"/>
          </a:p>
        </p:txBody>
      </p:sp>
      <p:sp>
        <p:nvSpPr>
          <p:cNvPr id="4" name="agenda title"/>
          <p:cNvSpPr txBox="1"/>
          <p:nvPr/>
        </p:nvSpPr>
        <p:spPr>
          <a:xfrm>
            <a:off x="4114800" y="8229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deck covers</a:t>
            </a:r>
            <a:endParaRPr lang="en-US" sz="2600" dirty="0"/>
          </a:p>
        </p:txBody>
      </p:sp>
      <p:sp>
        <p:nvSpPr>
          <p:cNvPr id="5" name="agenda 01 number"/>
          <p:cNvSpPr txBox="1"/>
          <p:nvPr/>
        </p:nvSpPr>
        <p:spPr>
          <a:xfrm>
            <a:off x="4114800" y="1463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agenda 01 text"/>
          <p:cNvSpPr txBox="1"/>
          <p:nvPr/>
        </p:nvSpPr>
        <p:spPr>
          <a:xfrm>
            <a:off x="4846320" y="14630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Historical background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How coffee became a global commodity</a:t>
            </a:r>
            <a:endParaRPr lang="en-US" sz="1600" dirty="0"/>
          </a:p>
        </p:txBody>
      </p:sp>
      <p:sp>
        <p:nvSpPr>
          <p:cNvPr id="7" name="agenda 02 number"/>
          <p:cNvSpPr txBox="1"/>
          <p:nvPr/>
        </p:nvSpPr>
        <p:spPr>
          <a:xfrm>
            <a:off x="4114800" y="212140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8" name="agenda 02 text"/>
          <p:cNvSpPr txBox="1"/>
          <p:nvPr/>
        </p:nvSpPr>
        <p:spPr>
          <a:xfrm>
            <a:off x="4846320" y="212140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Producers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Who grows the world's coffee</a:t>
            </a:r>
            <a:endParaRPr lang="en-US" sz="1600" dirty="0"/>
          </a:p>
        </p:txBody>
      </p:sp>
      <p:sp>
        <p:nvSpPr>
          <p:cNvPr id="9" name="agenda 03 number"/>
          <p:cNvSpPr txBox="1"/>
          <p:nvPr/>
        </p:nvSpPr>
        <p:spPr>
          <a:xfrm>
            <a:off x="4114800" y="277977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0" name="agenda 03 text"/>
          <p:cNvSpPr txBox="1"/>
          <p:nvPr/>
        </p:nvSpPr>
        <p:spPr>
          <a:xfrm>
            <a:off x="4846320" y="277977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Importers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Who drinks it, and who passes it on</a:t>
            </a:r>
            <a:endParaRPr lang="en-US" sz="1600" dirty="0"/>
          </a:p>
        </p:txBody>
      </p:sp>
      <p:sp>
        <p:nvSpPr>
          <p:cNvPr id="11" name="agenda 04 number"/>
          <p:cNvSpPr txBox="1"/>
          <p:nvPr/>
        </p:nvSpPr>
        <p:spPr>
          <a:xfrm>
            <a:off x="4114800" y="343814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2" name="agenda 04 text"/>
          <p:cNvSpPr txBox="1"/>
          <p:nvPr/>
        </p:nvSpPr>
        <p:spPr>
          <a:xfrm>
            <a:off x="4846320" y="343814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Model and verdict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Which markets look strongest</a:t>
            </a:r>
            <a:endParaRPr lang="en-US" sz="1600" dirty="0"/>
          </a:p>
        </p:txBody>
      </p:sp>
      <p:sp>
        <p:nvSpPr>
          <p:cNvPr id="13" name="agenda 05 number"/>
          <p:cNvSpPr txBox="1"/>
          <p:nvPr/>
        </p:nvSpPr>
        <p:spPr>
          <a:xfrm>
            <a:off x="4114800" y="409651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14" name="agenda 05 text"/>
          <p:cNvSpPr txBox="1"/>
          <p:nvPr/>
        </p:nvSpPr>
        <p:spPr>
          <a:xfrm>
            <a:off x="4846320" y="409651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Call to action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How a new coffee company should start</a:t>
            </a:r>
            <a:endParaRPr lang="en-US" sz="1600" dirty="0"/>
          </a:p>
        </p:txBody>
      </p:sp>
      <p:sp>
        <p:nvSpPr>
          <p:cNvPr id="15" name="Text 0"/>
          <p:cNvSpPr/>
          <p:nvPr>
            <p:ph idx="100" type="body" hasCustomPrompt="1"/>
          </p:nvPr>
        </p:nvSpPr>
        <p:spPr>
          <a:xfrm>
            <a:off x="457200" y="29260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story section photo" descr="/tmp/claude-0/-home-claude/709e0a8c-32d6-5fa2-98a9-558f49637e18/scratchpad/work/img/plantatio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history section shad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110E">
              <a:alpha val="60000"/>
            </a:srgbClr>
          </a:solidFill>
          <a:ln/>
        </p:spPr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548640" y="1554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01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Historical background</a:t>
            </a:r>
            <a:endParaRPr lang="en-US" sz="36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548640" y="30632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From an Ethiopian shrub to one of the world's most traded crops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FIVE CENTURIES OF COFFEE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How coffee became a global commodity</a:t>
            </a:r>
            <a:endParaRPr lang="en-US" sz="2400" dirty="0"/>
          </a:p>
        </p:txBody>
      </p:sp>
      <p:sp>
        <p:nvSpPr>
          <p:cNvPr id="4" name="timeline line"/>
          <p:cNvSpPr/>
          <p:nvPr/>
        </p:nvSpPr>
        <p:spPr>
          <a:xfrm>
            <a:off x="685800" y="1737360"/>
            <a:ext cx="7772400" cy="0"/>
          </a:xfrm>
          <a:prstGeom prst="line">
            <a:avLst/>
          </a:prstGeom>
          <a:noFill/>
          <a:ln w="25400">
            <a:solidFill>
              <a:srgbClr val="C8963E"/>
            </a:solidFill>
            <a:prstDash val="solid"/>
          </a:ln>
        </p:spPr>
      </p:sp>
      <p:sp>
        <p:nvSpPr>
          <p:cNvPr id="5" name="timeline dot 1400s"/>
          <p:cNvSpPr/>
          <p:nvPr/>
        </p:nvSpPr>
        <p:spPr>
          <a:xfrm>
            <a:off x="576072" y="1618488"/>
            <a:ext cx="237744" cy="237744"/>
          </a:xfrm>
          <a:prstGeom prst="ellipse">
            <a:avLst/>
          </a:prstGeom>
          <a:solidFill>
            <a:srgbClr val="C8963E"/>
          </a:solidFill>
          <a:ln w="25400">
            <a:solidFill>
              <a:srgbClr val="15110E"/>
            </a:solidFill>
            <a:prstDash val="solid"/>
          </a:ln>
        </p:spPr>
      </p:sp>
      <p:sp>
        <p:nvSpPr>
          <p:cNvPr id="6" name="timeline year 1400s"/>
          <p:cNvSpPr txBox="1"/>
          <p:nvPr/>
        </p:nvSpPr>
        <p:spPr>
          <a:xfrm>
            <a:off x="457200" y="1143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1400s</a:t>
            </a:r>
            <a:endParaRPr lang="en-US" sz="2200" dirty="0"/>
          </a:p>
        </p:txBody>
      </p:sp>
      <p:sp>
        <p:nvSpPr>
          <p:cNvPr id="7" name="timeline card 1400s"/>
          <p:cNvSpPr/>
          <p:nvPr/>
        </p:nvSpPr>
        <p:spPr>
          <a:xfrm>
            <a:off x="457200" y="2103120"/>
            <a:ext cx="1554480" cy="2423160"/>
          </a:xfrm>
          <a:prstGeom prst="roundRect">
            <a:avLst>
              <a:gd name="adj" fmla="val 4706"/>
            </a:avLst>
          </a:prstGeom>
          <a:solidFill>
            <a:srgbClr val="211A16"/>
          </a:solidFill>
          <a:ln/>
        </p:spPr>
      </p:sp>
      <p:sp>
        <p:nvSpPr>
          <p:cNvPr id="8" name="timeline text 1400s"/>
          <p:cNvSpPr txBox="1"/>
          <p:nvPr/>
        </p:nvSpPr>
        <p:spPr>
          <a:xfrm>
            <a:off x="566928" y="2212848"/>
            <a:ext cx="133502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Ethiopia and Yemen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Coffee grows wild in Ethiopia's highlands and is cultivated in Yemen, traded through the port of Mocha.</a:t>
            </a:r>
            <a:endParaRPr lang="en-US" sz="1400" dirty="0"/>
          </a:p>
        </p:txBody>
      </p:sp>
      <p:sp>
        <p:nvSpPr>
          <p:cNvPr id="9" name="timeline dot 1727"/>
          <p:cNvSpPr/>
          <p:nvPr/>
        </p:nvSpPr>
        <p:spPr>
          <a:xfrm>
            <a:off x="2240280" y="1618488"/>
            <a:ext cx="237744" cy="237744"/>
          </a:xfrm>
          <a:prstGeom prst="ellipse">
            <a:avLst/>
          </a:prstGeom>
          <a:solidFill>
            <a:srgbClr val="C8963E"/>
          </a:solidFill>
          <a:ln w="25400">
            <a:solidFill>
              <a:srgbClr val="15110E"/>
            </a:solidFill>
            <a:prstDash val="solid"/>
          </a:ln>
        </p:spPr>
      </p:sp>
      <p:sp>
        <p:nvSpPr>
          <p:cNvPr id="10" name="timeline year 1727"/>
          <p:cNvSpPr txBox="1"/>
          <p:nvPr/>
        </p:nvSpPr>
        <p:spPr>
          <a:xfrm>
            <a:off x="2121408" y="1143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1727</a:t>
            </a:r>
            <a:endParaRPr lang="en-US" sz="2200" dirty="0"/>
          </a:p>
        </p:txBody>
      </p:sp>
      <p:sp>
        <p:nvSpPr>
          <p:cNvPr id="11" name="timeline card 1727"/>
          <p:cNvSpPr/>
          <p:nvPr/>
        </p:nvSpPr>
        <p:spPr>
          <a:xfrm>
            <a:off x="2121408" y="2103120"/>
            <a:ext cx="1554480" cy="2423160"/>
          </a:xfrm>
          <a:prstGeom prst="roundRect">
            <a:avLst>
              <a:gd name="adj" fmla="val 4706"/>
            </a:avLst>
          </a:prstGeom>
          <a:solidFill>
            <a:srgbClr val="211A16"/>
          </a:solidFill>
          <a:ln/>
        </p:spPr>
      </p:sp>
      <p:sp>
        <p:nvSpPr>
          <p:cNvPr id="12" name="timeline text 1727"/>
          <p:cNvSpPr txBox="1"/>
          <p:nvPr/>
        </p:nvSpPr>
        <p:spPr>
          <a:xfrm>
            <a:off x="2231136" y="2212848"/>
            <a:ext cx="133502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Coffee reaches Brazil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Seedlings arrive in Brazil, the country that will dominate world supply.</a:t>
            </a:r>
            <a:endParaRPr lang="en-US" sz="1400" dirty="0"/>
          </a:p>
        </p:txBody>
      </p:sp>
      <p:sp>
        <p:nvSpPr>
          <p:cNvPr id="13" name="timeline dot 1840s"/>
          <p:cNvSpPr/>
          <p:nvPr/>
        </p:nvSpPr>
        <p:spPr>
          <a:xfrm>
            <a:off x="3904488" y="1618488"/>
            <a:ext cx="237744" cy="237744"/>
          </a:xfrm>
          <a:prstGeom prst="ellipse">
            <a:avLst/>
          </a:prstGeom>
          <a:solidFill>
            <a:srgbClr val="C8963E"/>
          </a:solidFill>
          <a:ln w="25400">
            <a:solidFill>
              <a:srgbClr val="15110E"/>
            </a:solidFill>
            <a:prstDash val="solid"/>
          </a:ln>
        </p:spPr>
      </p:sp>
      <p:sp>
        <p:nvSpPr>
          <p:cNvPr id="14" name="timeline year 1840s"/>
          <p:cNvSpPr txBox="1"/>
          <p:nvPr/>
        </p:nvSpPr>
        <p:spPr>
          <a:xfrm>
            <a:off x="3785616" y="1143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1840s</a:t>
            </a:r>
            <a:endParaRPr lang="en-US" sz="2200" dirty="0"/>
          </a:p>
        </p:txBody>
      </p:sp>
      <p:sp>
        <p:nvSpPr>
          <p:cNvPr id="15" name="timeline card 1840s"/>
          <p:cNvSpPr/>
          <p:nvPr/>
        </p:nvSpPr>
        <p:spPr>
          <a:xfrm>
            <a:off x="3785616" y="2103120"/>
            <a:ext cx="1554480" cy="2423160"/>
          </a:xfrm>
          <a:prstGeom prst="roundRect">
            <a:avLst>
              <a:gd name="adj" fmla="val 4706"/>
            </a:avLst>
          </a:prstGeom>
          <a:solidFill>
            <a:srgbClr val="211A16"/>
          </a:solidFill>
          <a:ln/>
        </p:spPr>
      </p:sp>
      <p:sp>
        <p:nvSpPr>
          <p:cNvPr id="16" name="timeline text 1840s"/>
          <p:cNvSpPr txBox="1"/>
          <p:nvPr/>
        </p:nvSpPr>
        <p:spPr>
          <a:xfrm>
            <a:off x="3895344" y="2212848"/>
            <a:ext cx="133502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Brazil becomes #1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Brazil becomes the world's largest producer, a position it still holds in every year of this dataset.</a:t>
            </a:r>
            <a:endParaRPr lang="en-US" sz="1400" dirty="0"/>
          </a:p>
        </p:txBody>
      </p:sp>
      <p:sp>
        <p:nvSpPr>
          <p:cNvPr id="17" name="timeline dot 1962"/>
          <p:cNvSpPr/>
          <p:nvPr/>
        </p:nvSpPr>
        <p:spPr>
          <a:xfrm>
            <a:off x="5568696" y="1618488"/>
            <a:ext cx="237744" cy="237744"/>
          </a:xfrm>
          <a:prstGeom prst="ellipse">
            <a:avLst/>
          </a:prstGeom>
          <a:solidFill>
            <a:srgbClr val="C8963E"/>
          </a:solidFill>
          <a:ln w="25400">
            <a:solidFill>
              <a:srgbClr val="15110E"/>
            </a:solidFill>
            <a:prstDash val="solid"/>
          </a:ln>
        </p:spPr>
      </p:sp>
      <p:sp>
        <p:nvSpPr>
          <p:cNvPr id="18" name="timeline year 1962"/>
          <p:cNvSpPr txBox="1"/>
          <p:nvPr/>
        </p:nvSpPr>
        <p:spPr>
          <a:xfrm>
            <a:off x="5449824" y="1143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1962</a:t>
            </a:r>
            <a:endParaRPr lang="en-US" sz="2200" dirty="0"/>
          </a:p>
        </p:txBody>
      </p:sp>
      <p:sp>
        <p:nvSpPr>
          <p:cNvPr id="19" name="timeline card 1962"/>
          <p:cNvSpPr/>
          <p:nvPr/>
        </p:nvSpPr>
        <p:spPr>
          <a:xfrm>
            <a:off x="5449824" y="2103120"/>
            <a:ext cx="1554480" cy="2423160"/>
          </a:xfrm>
          <a:prstGeom prst="roundRect">
            <a:avLst>
              <a:gd name="adj" fmla="val 4706"/>
            </a:avLst>
          </a:prstGeom>
          <a:solidFill>
            <a:srgbClr val="211A16"/>
          </a:solidFill>
          <a:ln/>
        </p:spPr>
      </p:sp>
      <p:sp>
        <p:nvSpPr>
          <p:cNvPr id="20" name="timeline text 1962"/>
          <p:cNvSpPr txBox="1"/>
          <p:nvPr/>
        </p:nvSpPr>
        <p:spPr>
          <a:xfrm>
            <a:off x="5559552" y="2212848"/>
            <a:ext cx="133502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Quotas begin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The International Coffee Agreement sets export quotas to manage supply and prices.</a:t>
            </a:r>
            <a:endParaRPr lang="en-US" sz="1400" dirty="0"/>
          </a:p>
        </p:txBody>
      </p:sp>
      <p:sp>
        <p:nvSpPr>
          <p:cNvPr id="21" name="timeline dot 1989"/>
          <p:cNvSpPr/>
          <p:nvPr/>
        </p:nvSpPr>
        <p:spPr>
          <a:xfrm>
            <a:off x="7232904" y="1618488"/>
            <a:ext cx="237744" cy="237744"/>
          </a:xfrm>
          <a:prstGeom prst="ellipse">
            <a:avLst/>
          </a:prstGeom>
          <a:solidFill>
            <a:srgbClr val="B5352B"/>
          </a:solidFill>
          <a:ln w="25400">
            <a:solidFill>
              <a:srgbClr val="15110E"/>
            </a:solidFill>
            <a:prstDash val="solid"/>
          </a:ln>
        </p:spPr>
      </p:sp>
      <p:sp>
        <p:nvSpPr>
          <p:cNvPr id="22" name="timeline year 1989"/>
          <p:cNvSpPr txBox="1"/>
          <p:nvPr/>
        </p:nvSpPr>
        <p:spPr>
          <a:xfrm>
            <a:off x="7114032" y="1143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1989</a:t>
            </a:r>
            <a:endParaRPr lang="en-US" sz="2200" dirty="0"/>
          </a:p>
        </p:txBody>
      </p:sp>
      <p:sp>
        <p:nvSpPr>
          <p:cNvPr id="23" name="timeline card 1989"/>
          <p:cNvSpPr/>
          <p:nvPr/>
        </p:nvSpPr>
        <p:spPr>
          <a:xfrm>
            <a:off x="7114032" y="2103120"/>
            <a:ext cx="1554480" cy="2423160"/>
          </a:xfrm>
          <a:prstGeom prst="roundRect">
            <a:avLst>
              <a:gd name="adj" fmla="val 4706"/>
            </a:avLst>
          </a:prstGeom>
          <a:solidFill>
            <a:srgbClr val="211A16"/>
          </a:solidFill>
          <a:ln/>
        </p:spPr>
      </p:sp>
      <p:sp>
        <p:nvSpPr>
          <p:cNvPr id="24" name="timeline text 1989"/>
          <p:cNvSpPr txBox="1"/>
          <p:nvPr/>
        </p:nvSpPr>
        <p:spPr>
          <a:xfrm>
            <a:off x="7223760" y="2212848"/>
            <a:ext cx="133502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Quotas collapse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The quota system ends in July 1989. This dataset begins in 1990, the first year of the free market.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5A9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1990-2019 IN CONTEXT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Three events you can see in the data</a:t>
            </a:r>
            <a:endParaRPr lang="en-US" sz="2400" dirty="0"/>
          </a:p>
        </p:txBody>
      </p:sp>
      <p:pic>
        <p:nvPicPr>
          <p:cNvPr id="4" name="00_history_meets_data chart snippet" descr="/mnt/project-files/coffee-project/release/figures/00_history_meets_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188720"/>
            <a:ext cx="5577840" cy="3384908"/>
          </a:xfrm>
          <a:prstGeom prst="rect">
            <a:avLst/>
          </a:prstGeom>
        </p:spPr>
      </p:pic>
      <p:sp>
        <p:nvSpPr>
          <p:cNvPr id="5" name="event 1"/>
          <p:cNvSpPr txBox="1"/>
          <p:nvPr/>
        </p:nvSpPr>
        <p:spPr>
          <a:xfrm>
            <a:off x="5989320" y="128016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1994 frosts in Brazil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Brazil's 1995 crop is its lowest in the dataset: 1,084M, down 36% on the year before.</a:t>
            </a:r>
            <a:endParaRPr lang="en-US" sz="1400" dirty="0"/>
          </a:p>
        </p:txBody>
      </p:sp>
      <p:sp>
        <p:nvSpPr>
          <p:cNvPr id="6" name="event 2"/>
          <p:cNvSpPr txBox="1"/>
          <p:nvPr/>
        </p:nvSpPr>
        <p:spPr>
          <a:xfrm>
            <a:off x="5989320" y="242316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2001-02 price crash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Fast growth in Vietnam and Brazil left the market oversupplied, and prices fell to their lowest in decades.</a:t>
            </a:r>
            <a:endParaRPr lang="en-US" sz="1400" dirty="0"/>
          </a:p>
        </p:txBody>
      </p:sp>
      <p:sp>
        <p:nvSpPr>
          <p:cNvPr id="7" name="event 3"/>
          <p:cNvSpPr txBox="1"/>
          <p:nvPr/>
        </p:nvSpPr>
        <p:spPr>
          <a:xfrm>
            <a:off x="5989320" y="356616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Colombia's leaf rust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Colombia's output fell from 751M (2007) to 459M (2011), then recovered to 846M by 2019.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5A9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uestion photo" descr="/tmp/claude-0/-home-claude/709e0a8c-32d6-5fa2-98a9-558f49637e18/scratchpad/work/img/hand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52160" y="0"/>
            <a:ext cx="3291840" cy="51435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body" hasCustomPrompt="1"/>
          </p:nvPr>
        </p:nvSpPr>
        <p:spPr>
          <a:xfrm>
            <a:off x="457200" y="29260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THE QUESTION</a:t>
            </a:r>
            <a:endParaRPr lang="en-US" sz="1100" dirty="0"/>
          </a:p>
        </p:txBody>
      </p:sp>
      <p:sp>
        <p:nvSpPr>
          <p:cNvPr id="4" name="question title"/>
          <p:cNvSpPr txBox="1"/>
          <p:nvPr/>
        </p:nvSpPr>
        <p:spPr>
          <a:xfrm>
            <a:off x="457200" y="5486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should a coffee company build?</a:t>
            </a:r>
            <a:endParaRPr lang="en-US" sz="2400" dirty="0"/>
          </a:p>
        </p:txBody>
      </p:sp>
      <p:sp>
        <p:nvSpPr>
          <p:cNvPr id="5" name="question text"/>
          <p:cNvSpPr txBox="1"/>
          <p:nvPr/>
        </p:nvSpPr>
        <p:spPr>
          <a:xfrm>
            <a:off x="457200" y="13258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 new coffee company needs to choose where to sell and where to buy. Every number in this deck comes from the dataset.</a:t>
            </a:r>
            <a:endParaRPr lang="en-US" sz="1400" dirty="0"/>
          </a:p>
        </p:txBody>
      </p:sp>
      <p:sp>
        <p:nvSpPr>
          <p:cNvPr id="6" name="data card 1"/>
          <p:cNvSpPr/>
          <p:nvPr/>
        </p:nvSpPr>
        <p:spPr>
          <a:xfrm>
            <a:off x="457200" y="2240280"/>
            <a:ext cx="2423160" cy="1024128"/>
          </a:xfrm>
          <a:prstGeom prst="roundRect">
            <a:avLst>
              <a:gd name="adj" fmla="val 7143"/>
            </a:avLst>
          </a:prstGeom>
          <a:solidFill>
            <a:srgbClr val="211A16"/>
          </a:solidFill>
          <a:ln/>
        </p:spPr>
      </p:sp>
      <p:sp>
        <p:nvSpPr>
          <p:cNvPr id="7" name="data card 1 number"/>
          <p:cNvSpPr txBox="1"/>
          <p:nvPr/>
        </p:nvSpPr>
        <p:spPr>
          <a:xfrm>
            <a:off x="640080" y="23500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3000" dirty="0"/>
          </a:p>
        </p:txBody>
      </p:sp>
      <p:sp>
        <p:nvSpPr>
          <p:cNvPr id="8" name="data card 1 label"/>
          <p:cNvSpPr txBox="1"/>
          <p:nvPr/>
        </p:nvSpPr>
        <p:spPr>
          <a:xfrm>
            <a:off x="640080" y="28620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producing countries</a:t>
            </a:r>
            <a:endParaRPr lang="en-US" sz="1300" dirty="0"/>
          </a:p>
        </p:txBody>
      </p:sp>
      <p:sp>
        <p:nvSpPr>
          <p:cNvPr id="9" name="data card 2"/>
          <p:cNvSpPr/>
          <p:nvPr/>
        </p:nvSpPr>
        <p:spPr>
          <a:xfrm>
            <a:off x="3063240" y="2240280"/>
            <a:ext cx="2423160" cy="1024128"/>
          </a:xfrm>
          <a:prstGeom prst="roundRect">
            <a:avLst>
              <a:gd name="adj" fmla="val 7143"/>
            </a:avLst>
          </a:prstGeom>
          <a:solidFill>
            <a:srgbClr val="211A16"/>
          </a:solidFill>
          <a:ln/>
        </p:spPr>
      </p:sp>
      <p:sp>
        <p:nvSpPr>
          <p:cNvPr id="10" name="data card 2 number"/>
          <p:cNvSpPr txBox="1"/>
          <p:nvPr/>
        </p:nvSpPr>
        <p:spPr>
          <a:xfrm>
            <a:off x="3246120" y="23500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3000" dirty="0"/>
          </a:p>
        </p:txBody>
      </p:sp>
      <p:sp>
        <p:nvSpPr>
          <p:cNvPr id="11" name="data card 2 label"/>
          <p:cNvSpPr txBox="1"/>
          <p:nvPr/>
        </p:nvSpPr>
        <p:spPr>
          <a:xfrm>
            <a:off x="3246120" y="28620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importing countries</a:t>
            </a:r>
            <a:endParaRPr lang="en-US" sz="1300" dirty="0"/>
          </a:p>
        </p:txBody>
      </p:sp>
      <p:sp>
        <p:nvSpPr>
          <p:cNvPr id="12" name="data card 3"/>
          <p:cNvSpPr/>
          <p:nvPr/>
        </p:nvSpPr>
        <p:spPr>
          <a:xfrm>
            <a:off x="457200" y="3429000"/>
            <a:ext cx="2423160" cy="1024128"/>
          </a:xfrm>
          <a:prstGeom prst="roundRect">
            <a:avLst>
              <a:gd name="adj" fmla="val 7143"/>
            </a:avLst>
          </a:prstGeom>
          <a:solidFill>
            <a:srgbClr val="211A16"/>
          </a:solidFill>
          <a:ln/>
        </p:spPr>
      </p:sp>
      <p:sp>
        <p:nvSpPr>
          <p:cNvPr id="13" name="data card 3 number"/>
          <p:cNvSpPr txBox="1"/>
          <p:nvPr/>
        </p:nvSpPr>
        <p:spPr>
          <a:xfrm>
            <a:off x="640080" y="35387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3000" dirty="0"/>
          </a:p>
        </p:txBody>
      </p:sp>
      <p:sp>
        <p:nvSpPr>
          <p:cNvPr id="14" name="data card 3 label"/>
          <p:cNvSpPr txBox="1"/>
          <p:nvPr/>
        </p:nvSpPr>
        <p:spPr>
          <a:xfrm>
            <a:off x="640080" y="40507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years, 1990-2019</a:t>
            </a:r>
            <a:endParaRPr lang="en-US" sz="1300" dirty="0"/>
          </a:p>
        </p:txBody>
      </p:sp>
      <p:sp>
        <p:nvSpPr>
          <p:cNvPr id="15" name="data card 4"/>
          <p:cNvSpPr/>
          <p:nvPr/>
        </p:nvSpPr>
        <p:spPr>
          <a:xfrm>
            <a:off x="3063240" y="3429000"/>
            <a:ext cx="2423160" cy="1024128"/>
          </a:xfrm>
          <a:prstGeom prst="roundRect">
            <a:avLst>
              <a:gd name="adj" fmla="val 7143"/>
            </a:avLst>
          </a:prstGeom>
          <a:solidFill>
            <a:srgbClr val="211A16"/>
          </a:solidFill>
          <a:ln/>
        </p:spPr>
      </p:sp>
      <p:sp>
        <p:nvSpPr>
          <p:cNvPr id="16" name="data card 4 number"/>
          <p:cNvSpPr txBox="1"/>
          <p:nvPr/>
        </p:nvSpPr>
        <p:spPr>
          <a:xfrm>
            <a:off x="3246120" y="35387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17" name="data card 4 label"/>
          <p:cNvSpPr txBox="1"/>
          <p:nvPr/>
        </p:nvSpPr>
        <p:spPr>
          <a:xfrm>
            <a:off x="3246120" y="40507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measures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AT A GLANCE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Five things the data shows</a:t>
            </a:r>
            <a:endParaRPr lang="en-US" sz="2400" dirty="0"/>
          </a:p>
        </p:txBody>
      </p:sp>
      <p:sp>
        <p:nvSpPr>
          <p:cNvPr id="4" name="finding card 1"/>
          <p:cNvSpPr/>
          <p:nvPr/>
        </p:nvSpPr>
        <p:spPr>
          <a:xfrm>
            <a:off x="457200" y="1417320"/>
            <a:ext cx="1554480" cy="2514600"/>
          </a:xfrm>
          <a:prstGeom prst="roundRect">
            <a:avLst>
              <a:gd name="adj" fmla="val 4706"/>
            </a:avLst>
          </a:prstGeom>
          <a:solidFill>
            <a:srgbClr val="211A16"/>
          </a:solidFill>
          <a:ln/>
        </p:spPr>
      </p:sp>
      <p:sp>
        <p:nvSpPr>
          <p:cNvPr id="5" name="finding 1 number"/>
          <p:cNvSpPr txBox="1"/>
          <p:nvPr/>
        </p:nvSpPr>
        <p:spPr>
          <a:xfrm>
            <a:off x="594360" y="155448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13x</a:t>
            </a:r>
            <a:endParaRPr lang="en-US" sz="3000" dirty="0"/>
          </a:p>
        </p:txBody>
      </p:sp>
      <p:sp>
        <p:nvSpPr>
          <p:cNvPr id="6" name="finding 1 label"/>
          <p:cNvSpPr txBox="1"/>
          <p:nvPr/>
        </p:nvSpPr>
        <p:spPr>
          <a:xfrm>
            <a:off x="594360" y="251460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Vietnam's production growth, from #17 producer to #2</a:t>
            </a:r>
            <a:endParaRPr lang="en-US" sz="1300" dirty="0"/>
          </a:p>
        </p:txBody>
      </p:sp>
      <p:sp>
        <p:nvSpPr>
          <p:cNvPr id="7" name="finding card 2"/>
          <p:cNvSpPr/>
          <p:nvPr/>
        </p:nvSpPr>
        <p:spPr>
          <a:xfrm>
            <a:off x="2121408" y="1417320"/>
            <a:ext cx="1554480" cy="2514600"/>
          </a:xfrm>
          <a:prstGeom prst="roundRect">
            <a:avLst>
              <a:gd name="adj" fmla="val 4706"/>
            </a:avLst>
          </a:prstGeom>
          <a:solidFill>
            <a:srgbClr val="211A16"/>
          </a:solidFill>
          <a:ln/>
        </p:spPr>
      </p:sp>
      <p:sp>
        <p:nvSpPr>
          <p:cNvPr id="8" name="finding 2 number"/>
          <p:cNvSpPr txBox="1"/>
          <p:nvPr/>
        </p:nvSpPr>
        <p:spPr>
          <a:xfrm>
            <a:off x="2258568" y="155448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 to 74%</a:t>
            </a:r>
            <a:endParaRPr lang="en-US" sz="2200" dirty="0"/>
          </a:p>
        </p:txBody>
      </p:sp>
      <p:sp>
        <p:nvSpPr>
          <p:cNvPr id="9" name="finding 2 label"/>
          <p:cNvSpPr txBox="1"/>
          <p:nvPr/>
        </p:nvSpPr>
        <p:spPr>
          <a:xfrm>
            <a:off x="2258568" y="251460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share of world output made by the top 5 producers</a:t>
            </a:r>
            <a:endParaRPr lang="en-US" sz="1300" dirty="0"/>
          </a:p>
        </p:txBody>
      </p:sp>
      <p:sp>
        <p:nvSpPr>
          <p:cNvPr id="10" name="finding card 3"/>
          <p:cNvSpPr/>
          <p:nvPr/>
        </p:nvSpPr>
        <p:spPr>
          <a:xfrm>
            <a:off x="3785616" y="1417320"/>
            <a:ext cx="1554480" cy="2514600"/>
          </a:xfrm>
          <a:prstGeom prst="roundRect">
            <a:avLst>
              <a:gd name="adj" fmla="val 4706"/>
            </a:avLst>
          </a:prstGeom>
          <a:solidFill>
            <a:srgbClr val="211A16"/>
          </a:solidFill>
          <a:ln/>
        </p:spPr>
      </p:sp>
      <p:sp>
        <p:nvSpPr>
          <p:cNvPr id="11" name="finding 3 number"/>
          <p:cNvSpPr txBox="1"/>
          <p:nvPr/>
        </p:nvSpPr>
        <p:spPr>
          <a:xfrm>
            <a:off x="3922776" y="155448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3000" dirty="0"/>
          </a:p>
        </p:txBody>
      </p:sp>
      <p:sp>
        <p:nvSpPr>
          <p:cNvPr id="12" name="finding 3 label"/>
          <p:cNvSpPr txBox="1"/>
          <p:nvPr/>
        </p:nvSpPr>
        <p:spPr>
          <a:xfrm>
            <a:off x="3922776" y="251460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of import growth since 1990 was re-exported, not drunk</a:t>
            </a:r>
            <a:endParaRPr lang="en-US" sz="1300" dirty="0"/>
          </a:p>
        </p:txBody>
      </p:sp>
      <p:sp>
        <p:nvSpPr>
          <p:cNvPr id="13" name="finding card 4"/>
          <p:cNvSpPr/>
          <p:nvPr/>
        </p:nvSpPr>
        <p:spPr>
          <a:xfrm>
            <a:off x="5449824" y="1417320"/>
            <a:ext cx="1554480" cy="2514600"/>
          </a:xfrm>
          <a:prstGeom prst="roundRect">
            <a:avLst>
              <a:gd name="adj" fmla="val 4706"/>
            </a:avLst>
          </a:prstGeom>
          <a:solidFill>
            <a:srgbClr val="211A16"/>
          </a:solidFill>
          <a:ln/>
        </p:spPr>
      </p:sp>
      <p:sp>
        <p:nvSpPr>
          <p:cNvPr id="14" name="finding 4 number"/>
          <p:cNvSpPr txBox="1"/>
          <p:nvPr/>
        </p:nvSpPr>
        <p:spPr>
          <a:xfrm>
            <a:off x="5586984" y="155448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3000" dirty="0"/>
          </a:p>
        </p:txBody>
      </p:sp>
      <p:sp>
        <p:nvSpPr>
          <p:cNvPr id="15" name="finding 4 label"/>
          <p:cNvSpPr txBox="1"/>
          <p:nvPr/>
        </p:nvSpPr>
        <p:spPr>
          <a:xfrm>
            <a:off x="5586984" y="251460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of importer consumption is the USA's (2019)</a:t>
            </a:r>
            <a:endParaRPr lang="en-US" sz="1300" dirty="0"/>
          </a:p>
        </p:txBody>
      </p:sp>
      <p:sp>
        <p:nvSpPr>
          <p:cNvPr id="16" name="finding card 5"/>
          <p:cNvSpPr/>
          <p:nvPr/>
        </p:nvSpPr>
        <p:spPr>
          <a:xfrm>
            <a:off x="7114032" y="1417320"/>
            <a:ext cx="1554480" cy="2514600"/>
          </a:xfrm>
          <a:prstGeom prst="roundRect">
            <a:avLst>
              <a:gd name="adj" fmla="val 4706"/>
            </a:avLst>
          </a:prstGeom>
          <a:solidFill>
            <a:srgbClr val="211A16"/>
          </a:solidFill>
          <a:ln/>
        </p:spPr>
      </p:sp>
      <p:sp>
        <p:nvSpPr>
          <p:cNvPr id="17" name="finding 5 number"/>
          <p:cNvSpPr txBox="1"/>
          <p:nvPr/>
        </p:nvSpPr>
        <p:spPr>
          <a:xfrm>
            <a:off x="7251192" y="155448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-12%</a:t>
            </a:r>
            <a:endParaRPr lang="en-US" sz="3000" dirty="0"/>
          </a:p>
        </p:txBody>
      </p:sp>
      <p:sp>
        <p:nvSpPr>
          <p:cNvPr id="18" name="finding 5 label"/>
          <p:cNvSpPr txBox="1"/>
          <p:nvPr/>
        </p:nvSpPr>
        <p:spPr>
          <a:xfrm>
            <a:off x="7251192" y="251460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Germany's consumption change, while Russia's rose 168%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5A9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roducers section photo" descr="/tmp/claude-0/-home-claude/709e0a8c-32d6-5fa2-98a9-558f49637e18/scratchpad/work/img/hand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producers section shad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110E">
              <a:alpha val="60000"/>
            </a:srgbClr>
          </a:solidFill>
          <a:ln/>
        </p:spPr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548640" y="1554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02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Producers</a:t>
            </a:r>
            <a:endParaRPr lang="en-US" sz="36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548640" y="30632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Production in 55 countries, 1990-2019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PRODUCERS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Vietnam went from a small producer to the world's #2</a:t>
            </a:r>
            <a:endParaRPr lang="en-US" sz="2400" dirty="0"/>
          </a:p>
        </p:txBody>
      </p:sp>
      <p:pic>
        <p:nvPicPr>
          <p:cNvPr id="4" name="01_vietnam_rise chart snippet" descr="/mnt/project-files/coffee-project/release/figures/01_vietnam_r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188720"/>
            <a:ext cx="5577840" cy="3384908"/>
          </a:xfrm>
          <a:prstGeom prst="rect">
            <a:avLst/>
          </a:prstGeom>
        </p:spPr>
      </p:pic>
      <p:sp>
        <p:nvSpPr>
          <p:cNvPr id="5" name="Vietnam went from a small producer to the world&amp;apos;s #2 number"/>
          <p:cNvSpPr txBox="1"/>
          <p:nvPr/>
        </p:nvSpPr>
        <p:spPr>
          <a:xfrm>
            <a:off x="5989320" y="132588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13x</a:t>
            </a:r>
            <a:endParaRPr lang="en-US" sz="3400" dirty="0"/>
          </a:p>
        </p:txBody>
      </p:sp>
      <p:sp>
        <p:nvSpPr>
          <p:cNvPr id="6" name="Vietnam went from a small producer to the world&amp;apos;s #2 label"/>
          <p:cNvSpPr txBox="1"/>
          <p:nvPr/>
        </p:nvSpPr>
        <p:spPr>
          <a:xfrm>
            <a:off x="5989320" y="191109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Vietnam's growth, 1990-94 to 2015-19</a:t>
            </a:r>
            <a:endParaRPr lang="en-US" sz="1300" dirty="0"/>
          </a:p>
        </p:txBody>
      </p:sp>
      <p:sp>
        <p:nvSpPr>
          <p:cNvPr id="7" name="Vietnam went from a small producer to the world's #2 points"/>
          <p:cNvSpPr txBox="1"/>
          <p:nvPr/>
        </p:nvSpPr>
        <p:spPr>
          <a:xfrm>
            <a:off x="5989320" y="2514600"/>
            <a:ext cx="2697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Average output rose from 141M to 1,837M a year.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Its world share went from 1.4% to 18.5%.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Colombia stayed near 850M a year, so its share fell from 15.4% to 8.5%.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5A9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PRODUCERS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Production is concentrating in fewer countries</a:t>
            </a:r>
            <a:endParaRPr lang="en-US" sz="2400" dirty="0"/>
          </a:p>
        </p:txBody>
      </p:sp>
      <p:pic>
        <p:nvPicPr>
          <p:cNvPr id="4" name="02_production_concentration chart snippet" descr="/mnt/project-files/coffee-project/release/figures/02_production_concen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7560" y="1188720"/>
            <a:ext cx="5577840" cy="3384908"/>
          </a:xfrm>
          <a:prstGeom prst="rect">
            <a:avLst/>
          </a:prstGeom>
        </p:spPr>
      </p:pic>
      <p:sp>
        <p:nvSpPr>
          <p:cNvPr id="5" name="Production is concentrating in fewer countries number"/>
          <p:cNvSpPr txBox="1"/>
          <p:nvPr/>
        </p:nvSpPr>
        <p:spPr>
          <a:xfrm>
            <a:off x="457200" y="132588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3400" dirty="0"/>
          </a:p>
        </p:txBody>
      </p:sp>
      <p:sp>
        <p:nvSpPr>
          <p:cNvPr id="6" name="Production is concentrating in fewer countries label"/>
          <p:cNvSpPr txBox="1"/>
          <p:nvPr/>
        </p:nvSpPr>
        <p:spPr>
          <a:xfrm>
            <a:off x="457200" y="191109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of 2019 output came from the top 5</a:t>
            </a:r>
            <a:endParaRPr lang="en-US" sz="1300" dirty="0"/>
          </a:p>
        </p:txBody>
      </p:sp>
      <p:sp>
        <p:nvSpPr>
          <p:cNvPr id="7" name="Production is concentrating in fewer countries points"/>
          <p:cNvSpPr txBox="1"/>
          <p:nvPr/>
        </p:nvSpPr>
        <p:spPr>
          <a:xfrm>
            <a:off x="457200" y="2514600"/>
            <a:ext cx="2697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The top 5 made 61% in 1990.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Brazil alone makes 35% and is #1 in every year.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Mexico and Guatemala left the top 5; Vietnam and Ethiopia joined.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5A9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PRODUCERS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Mexico shrank while Honduras more than tripled</a:t>
            </a:r>
            <a:endParaRPr lang="en-US" sz="2400" dirty="0"/>
          </a:p>
        </p:txBody>
      </p:sp>
      <p:pic>
        <p:nvPicPr>
          <p:cNvPr id="4" name="09_mexico_neighbours chart snippet" descr="/mnt/project-files/coffee-project/release/figures/09_mexico_neighbou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188720"/>
            <a:ext cx="5577840" cy="3384908"/>
          </a:xfrm>
          <a:prstGeom prst="rect">
            <a:avLst/>
          </a:prstGeom>
        </p:spPr>
      </p:pic>
      <p:sp>
        <p:nvSpPr>
          <p:cNvPr id="5" name="Mexico shrank while Honduras more than tripled number"/>
          <p:cNvSpPr txBox="1"/>
          <p:nvPr/>
        </p:nvSpPr>
        <p:spPr>
          <a:xfrm>
            <a:off x="5989320" y="132588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-55%</a:t>
            </a:r>
            <a:endParaRPr lang="en-US" sz="3400" dirty="0"/>
          </a:p>
        </p:txBody>
      </p:sp>
      <p:sp>
        <p:nvSpPr>
          <p:cNvPr id="6" name="Mexico shrank while Honduras more than tripled label"/>
          <p:cNvSpPr txBox="1"/>
          <p:nvPr/>
        </p:nvSpPr>
        <p:spPr>
          <a:xfrm>
            <a:off x="5989320" y="191109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Mexico's fall from its 1999 peak (373M) to its 2015 low (166M)</a:t>
            </a:r>
            <a:endParaRPr lang="en-US" sz="1300" dirty="0"/>
          </a:p>
        </p:txBody>
      </p:sp>
      <p:sp>
        <p:nvSpPr>
          <p:cNvPr id="7" name="Mexico shrank while Honduras more than tripled points"/>
          <p:cNvSpPr txBox="1"/>
          <p:nvPr/>
        </p:nvSpPr>
        <p:spPr>
          <a:xfrm>
            <a:off x="5989320" y="2514600"/>
            <a:ext cx="2697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1989: Mexico's coffee institute closed and export quotas ended, leaving growers without price support.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From 2012: leaf rust hit its mostly smallholder Arabica farms, matching the 2015 low.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Output recovered to 239M by 2019.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5A9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PRODUCERS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India and Colombia are the steadiest big suppliers</a:t>
            </a:r>
            <a:endParaRPr lang="en-US" sz="2400" dirty="0"/>
          </a:p>
        </p:txBody>
      </p:sp>
      <p:pic>
        <p:nvPicPr>
          <p:cNvPr id="4" name="11_supply_stability chart snippet" descr="/mnt/project-files/coffee-project/release/figures/11_supply_sta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7560" y="1188720"/>
            <a:ext cx="5577840" cy="3384908"/>
          </a:xfrm>
          <a:prstGeom prst="rect">
            <a:avLst/>
          </a:prstGeom>
        </p:spPr>
      </p:pic>
      <p:sp>
        <p:nvSpPr>
          <p:cNvPr id="5" name="India and Colombia are the steadiest big suppliers number"/>
          <p:cNvSpPr txBox="1"/>
          <p:nvPr/>
        </p:nvSpPr>
        <p:spPr>
          <a:xfrm>
            <a:off x="457200" y="132588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3400" dirty="0"/>
          </a:p>
        </p:txBody>
      </p:sp>
      <p:sp>
        <p:nvSpPr>
          <p:cNvPr id="6" name="India and Colombia are the steadiest big suppliers label"/>
          <p:cNvSpPr txBox="1"/>
          <p:nvPr/>
        </p:nvSpPr>
        <p:spPr>
          <a:xfrm>
            <a:off x="457200" y="191109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Brazil's typical yearly change in output</a:t>
            </a:r>
            <a:endParaRPr lang="en-US" sz="1300" dirty="0"/>
          </a:p>
        </p:txBody>
      </p:sp>
      <p:sp>
        <p:nvSpPr>
          <p:cNvPr id="7" name="India and Colombia are the steadiest big suppliers points"/>
          <p:cNvSpPr txBox="1"/>
          <p:nvPr/>
        </p:nvSpPr>
        <p:spPr>
          <a:xfrm>
            <a:off x="457200" y="2514600"/>
            <a:ext cx="2697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India changes only about 8% a year, Colombia and Mexico about 13%.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Brazil, Indonesia and Peru swing 25-26% a year.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A buyer relying on one origin should expect large year-to-year gaps.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5A9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PRODUCERS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Brazil keeps almost as much coffee as the USA drinks</a:t>
            </a:r>
            <a:endParaRPr lang="en-US" sz="2400" dirty="0"/>
          </a:p>
        </p:txBody>
      </p:sp>
      <p:pic>
        <p:nvPicPr>
          <p:cNvPr id="4" name="10_kept_at_home chart snippet" descr="/mnt/project-files/coffee-project/release/figures/10_kept_at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188720"/>
            <a:ext cx="5577840" cy="3384908"/>
          </a:xfrm>
          <a:prstGeom prst="rect">
            <a:avLst/>
          </a:prstGeom>
        </p:spPr>
      </p:pic>
      <p:sp>
        <p:nvSpPr>
          <p:cNvPr id="5" name="Brazil keeps almost as much coffee as the USA drinks number"/>
          <p:cNvSpPr txBox="1"/>
          <p:nvPr/>
        </p:nvSpPr>
        <p:spPr>
          <a:xfrm>
            <a:off x="5989320" y="132588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1,378M</a:t>
            </a:r>
            <a:endParaRPr lang="en-US" sz="3400" dirty="0"/>
          </a:p>
        </p:txBody>
      </p:sp>
      <p:sp>
        <p:nvSpPr>
          <p:cNvPr id="6" name="Brazil keeps almost as much coffee as the USA drinks label"/>
          <p:cNvSpPr txBox="1"/>
          <p:nvPr/>
        </p:nvSpPr>
        <p:spPr>
          <a:xfrm>
            <a:off x="5989320" y="191109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kept in Brazil each year (production minus exports)</a:t>
            </a:r>
            <a:endParaRPr lang="en-US" sz="1300" dirty="0"/>
          </a:p>
        </p:txBody>
      </p:sp>
      <p:sp>
        <p:nvSpPr>
          <p:cNvPr id="7" name="Brazil keeps almost as much coffee as the USA drinks points"/>
          <p:cNvSpPr txBox="1"/>
          <p:nvPr/>
        </p:nvSpPr>
        <p:spPr>
          <a:xfrm>
            <a:off x="5989320" y="2514600"/>
            <a:ext cx="2697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That is 41% of Brazil's output, close to USA consumption of 1,435M.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Ethiopia keeps 51% of its coffee and Indonesia 38%.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Producing countries are large markets too.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5A9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porters section photo" descr="/tmp/claude-0/-home-claude/709e0a8c-32d6-5fa2-98a9-558f49637e18/scratchpad/work/img/shi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importers section shad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110E">
              <a:alpha val="65000"/>
            </a:srgbClr>
          </a:solidFill>
          <a:ln/>
        </p:spPr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548640" y="1554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03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Importers</a:t>
            </a:r>
            <a:endParaRPr lang="en-US" sz="36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548640" y="30632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Imports, consumption and re-exports in 35 countries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IMPORTERS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The USA drinks about a third of the importers' coffee</a:t>
            </a:r>
            <a:endParaRPr lang="en-US" sz="2400" dirty="0"/>
          </a:p>
        </p:txBody>
      </p:sp>
      <p:pic>
        <p:nvPicPr>
          <p:cNvPr id="4" name="03_usa_share chart snippet" descr="/mnt/project-files/coffee-project/release/figures/03_usa_sh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188720"/>
            <a:ext cx="5577840" cy="3384908"/>
          </a:xfrm>
          <a:prstGeom prst="rect">
            <a:avLst/>
          </a:prstGeom>
        </p:spPr>
      </p:pic>
      <p:sp>
        <p:nvSpPr>
          <p:cNvPr id="5" name="The USA drinks about a third of the importers&amp;apos; coffee number"/>
          <p:cNvSpPr txBox="1"/>
          <p:nvPr/>
        </p:nvSpPr>
        <p:spPr>
          <a:xfrm>
            <a:off x="5989320" y="132588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31.4%</a:t>
            </a:r>
            <a:endParaRPr lang="en-US" sz="3400" dirty="0"/>
          </a:p>
        </p:txBody>
      </p:sp>
      <p:sp>
        <p:nvSpPr>
          <p:cNvPr id="6" name="The USA drinks about a third of the importers&amp;apos; coffee label"/>
          <p:cNvSpPr txBox="1"/>
          <p:nvPr/>
        </p:nvSpPr>
        <p:spPr>
          <a:xfrm>
            <a:off x="5989320" y="191109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of 2019 consumption is in the USA</a:t>
            </a:r>
            <a:endParaRPr lang="en-US" sz="1300" dirty="0"/>
          </a:p>
        </p:txBody>
      </p:sp>
      <p:sp>
        <p:nvSpPr>
          <p:cNvPr id="7" name="The USA drinks about a third of the importers' coffee points"/>
          <p:cNvSpPr txBox="1"/>
          <p:nvPr/>
        </p:nvSpPr>
        <p:spPr>
          <a:xfrm>
            <a:off x="5989320" y="2514600"/>
            <a:ext cx="2697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Three times Germany's 10%.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Japan, France and Italy follow.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Russia has no data before 1992 and now ranks sixth at 5.5%.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5A9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IMPORTERS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Germany and the Netherlands shrank; Russia grew most</a:t>
            </a:r>
            <a:endParaRPr lang="en-US" sz="2400" dirty="0"/>
          </a:p>
        </p:txBody>
      </p:sp>
      <p:pic>
        <p:nvPicPr>
          <p:cNvPr id="4" name="04_consumption_change chart snippet" descr="/mnt/project-files/coffee-project/release/figures/04_consumption_ch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7560" y="1188720"/>
            <a:ext cx="5577840" cy="3384908"/>
          </a:xfrm>
          <a:prstGeom prst="rect">
            <a:avLst/>
          </a:prstGeom>
        </p:spPr>
      </p:pic>
      <p:sp>
        <p:nvSpPr>
          <p:cNvPr id="5" name="Germany and the Netherlands shrank; Russia grew most number"/>
          <p:cNvSpPr txBox="1"/>
          <p:nvPr/>
        </p:nvSpPr>
        <p:spPr>
          <a:xfrm>
            <a:off x="457200" y="132588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+168%</a:t>
            </a:r>
            <a:endParaRPr lang="en-US" sz="3400" dirty="0"/>
          </a:p>
        </p:txBody>
      </p:sp>
      <p:sp>
        <p:nvSpPr>
          <p:cNvPr id="6" name="Germany and the Netherlands shrank; Russia grew most label"/>
          <p:cNvSpPr txBox="1"/>
          <p:nvPr/>
        </p:nvSpPr>
        <p:spPr>
          <a:xfrm>
            <a:off x="457200" y="191109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Russia's consumption growth</a:t>
            </a:r>
            <a:endParaRPr lang="en-US" sz="1300" dirty="0"/>
          </a:p>
        </p:txBody>
      </p:sp>
      <p:sp>
        <p:nvSpPr>
          <p:cNvPr id="7" name="Germany and the Netherlands shrank; Russia grew most points"/>
          <p:cNvSpPr txBox="1"/>
          <p:nvPr/>
        </p:nvSpPr>
        <p:spPr>
          <a:xfrm>
            <a:off x="457200" y="2514600"/>
            <a:ext cx="2697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Poland grew 92%, the UK 45%, the USA 41%.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Germany fell 12% and the Netherlands 24%.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Denmark, Hungary and Austria also fell.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5A9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IMPORTERS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Most import growth is coffee passing through</a:t>
            </a:r>
            <a:endParaRPr lang="en-US" sz="2400" dirty="0"/>
          </a:p>
        </p:txBody>
      </p:sp>
      <p:pic>
        <p:nvPicPr>
          <p:cNvPr id="4" name="05_imports_vs_consumption chart snippet" descr="/mnt/project-files/coffee-project/release/figures/05_imports_vs_consump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188720"/>
            <a:ext cx="5577840" cy="3384908"/>
          </a:xfrm>
          <a:prstGeom prst="rect">
            <a:avLst/>
          </a:prstGeom>
        </p:spPr>
      </p:pic>
      <p:sp>
        <p:nvSpPr>
          <p:cNvPr id="5" name="Most import growth is coffee passing through number"/>
          <p:cNvSpPr txBox="1"/>
          <p:nvPr/>
        </p:nvSpPr>
        <p:spPr>
          <a:xfrm>
            <a:off x="5989320" y="132588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3400" dirty="0"/>
          </a:p>
        </p:txBody>
      </p:sp>
      <p:sp>
        <p:nvSpPr>
          <p:cNvPr id="6" name="Most import growth is coffee passing through label"/>
          <p:cNvSpPr txBox="1"/>
          <p:nvPr/>
        </p:nvSpPr>
        <p:spPr>
          <a:xfrm>
            <a:off x="5989320" y="191109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of import growth since 1990 was re-exported</a:t>
            </a:r>
            <a:endParaRPr lang="en-US" sz="1300" dirty="0"/>
          </a:p>
        </p:txBody>
      </p:sp>
      <p:sp>
        <p:nvSpPr>
          <p:cNvPr id="7" name="Most import growth is coffee passing through points"/>
          <p:cNvSpPr txBox="1"/>
          <p:nvPr/>
        </p:nvSpPr>
        <p:spPr>
          <a:xfrm>
            <a:off x="5989320" y="2514600"/>
            <a:ext cx="2697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Imports grew by 3.65B from 1990 to 2019.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Re-exports grew by 2.29B of that.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Consumption grew by only 1.66B.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5A9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IMPORTERS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Belgium sends on 78% of the coffee it imports</a:t>
            </a:r>
            <a:endParaRPr lang="en-US" sz="2400" dirty="0"/>
          </a:p>
        </p:txBody>
      </p:sp>
      <p:pic>
        <p:nvPicPr>
          <p:cNvPr id="4" name="06_re_export_hubs chart snippet" descr="/mnt/project-files/coffee-project/release/figures/06_re_export_hub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7560" y="1188720"/>
            <a:ext cx="5577840" cy="3384908"/>
          </a:xfrm>
          <a:prstGeom prst="rect">
            <a:avLst/>
          </a:prstGeom>
        </p:spPr>
      </p:pic>
      <p:sp>
        <p:nvSpPr>
          <p:cNvPr id="5" name="Belgium sends on 78% of the coffee it imports number"/>
          <p:cNvSpPr txBox="1"/>
          <p:nvPr/>
        </p:nvSpPr>
        <p:spPr>
          <a:xfrm>
            <a:off x="457200" y="132588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3400" dirty="0"/>
          </a:p>
        </p:txBody>
      </p:sp>
      <p:sp>
        <p:nvSpPr>
          <p:cNvPr id="6" name="Belgium sends on 78% of the coffee it imports label"/>
          <p:cNvSpPr txBox="1"/>
          <p:nvPr/>
        </p:nvSpPr>
        <p:spPr>
          <a:xfrm>
            <a:off x="457200" y="191109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of Belgium's imports are re-exported</a:t>
            </a:r>
            <a:endParaRPr lang="en-US" sz="1300" dirty="0"/>
          </a:p>
        </p:txBody>
      </p:sp>
      <p:sp>
        <p:nvSpPr>
          <p:cNvPr id="7" name="Belgium sends on 78% of the coffee it imports points"/>
          <p:cNvSpPr txBox="1"/>
          <p:nvPr/>
        </p:nvSpPr>
        <p:spPr>
          <a:xfrm>
            <a:off x="457200" y="2514600"/>
            <a:ext cx="2697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Germany, the Netherlands and Switzerland re-export about 60% or more.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For these hubs, imports overstate the home market.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Consumption is the better measure of demand.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5A9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erdict section photo" descr="/tmp/claude-0/-home-claude/709e0a8c-32d6-5fa2-98a9-558f49637e18/scratchpad/work/img/bean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verdict section shad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110E">
              <a:alpha val="70000"/>
            </a:srgbClr>
          </a:solidFill>
          <a:ln/>
        </p:spPr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548640" y="1554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04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Model and verdict</a:t>
            </a:r>
            <a:endParaRPr lang="en-US" sz="36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548640" y="30632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What predicts imports, and which markets look strongest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MODEL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Consumption predicts imports, except for the hubs</a:t>
            </a:r>
            <a:endParaRPr lang="en-US" sz="2400" dirty="0"/>
          </a:p>
        </p:txBody>
      </p:sp>
      <p:pic>
        <p:nvPicPr>
          <p:cNvPr id="4" name="07_model_actual_vs_predicted chart snippet" descr="/mnt/project-files/coffee-project/release/figures/07_model_actual_vs_predic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188720"/>
            <a:ext cx="5577840" cy="3384908"/>
          </a:xfrm>
          <a:prstGeom prst="rect">
            <a:avLst/>
          </a:prstGeom>
        </p:spPr>
      </p:pic>
      <p:sp>
        <p:nvSpPr>
          <p:cNvPr id="5" name="Consumption predicts imports, except for the hubs number"/>
          <p:cNvSpPr txBox="1"/>
          <p:nvPr/>
        </p:nvSpPr>
        <p:spPr>
          <a:xfrm>
            <a:off x="5989320" y="132588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0.66</a:t>
            </a:r>
            <a:endParaRPr lang="en-US" sz="3400" dirty="0"/>
          </a:p>
        </p:txBody>
      </p:sp>
      <p:sp>
        <p:nvSpPr>
          <p:cNvPr id="6" name="Consumption predicts imports, except for the hubs label"/>
          <p:cNvSpPr txBox="1"/>
          <p:nvPr/>
        </p:nvSpPr>
        <p:spPr>
          <a:xfrm>
            <a:off x="5989320" y="191109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linear model, leave-one-out test on 34 countries</a:t>
            </a:r>
            <a:endParaRPr lang="en-US" sz="1300" dirty="0"/>
          </a:p>
        </p:txBody>
      </p:sp>
      <p:sp>
        <p:nvSpPr>
          <p:cNvPr id="7" name="Consumption predicts imports, except for the hubs points"/>
          <p:cNvSpPr txBox="1"/>
          <p:nvPr/>
        </p:nvSpPr>
        <p:spPr>
          <a:xfrm>
            <a:off x="5989320" y="2514600"/>
            <a:ext cx="2697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Points on the dashed line are predicted perfectly.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Germany imports 1,320M but its consumption predicts 616M.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The gap is its re-exports.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5A9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VERDICT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Market scorecard: the USA, Japan and Italy rank highest</a:t>
            </a:r>
            <a:endParaRPr lang="en-US" sz="2400" dirty="0"/>
          </a:p>
        </p:txBody>
      </p:sp>
      <p:graphicFrame>
        <p:nvGraphicFramePr>
          <p:cNvPr id="22" name="scorecard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548640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051560"/>
                <a:gridCol w="1051560"/>
                <a:gridCol w="1005840"/>
                <a:gridCol w="1051560"/>
                <a:gridCol w="822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Rank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96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Country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96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Consumption 2015-19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96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Growth since 1990-94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96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Year-to-year variation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96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Score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96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A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USA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A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1,556M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A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+41%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A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2.2%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A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6.3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A1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Japan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464M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+40%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2.5%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7.7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A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Italy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A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344M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A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+25%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A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3.9%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A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9.3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A1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Romania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65M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+151%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5.6%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10.0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A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United Kingdom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A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216M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A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+45%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A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8.2%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A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11.7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A1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Croatia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22M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+159%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3.6%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11.7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E"/>
                    </a:solidFill>
                  </a:tcPr>
                </a:tc>
              </a:tr>
            </a:tbl>
          </a:graphicData>
        </a:graphic>
      </p:graphicFrame>
      <p:sp>
        <p:nvSpPr>
          <p:cNvPr id="5" name="scorecard method"/>
          <p:cNvSpPr txBox="1"/>
          <p:nvPr/>
        </p:nvSpPr>
        <p:spPr>
          <a:xfrm>
            <a:off x="6263640" y="1280160"/>
            <a:ext cx="2423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How the score works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Each market is ranked on size, growth and stability, and the three ranks are averaged. Lower is better.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Year-to-year variation is the typical yearly change in consumption, 2000-19. Russia and Poland grow fastest but swing 16-17% a year.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5A9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ction section photo" descr="/tmp/claude-0/-home-claude/709e0a8c-32d6-5fa2-98a9-558f49637e18/scratchpad/work/img/plantatio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action section shad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110E">
              <a:alpha val="65000"/>
            </a:srgbClr>
          </a:solidFill>
          <a:ln/>
        </p:spPr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548640" y="1554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05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Call to action</a:t>
            </a:r>
            <a:endParaRPr lang="en-US" sz="36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548640" y="30632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 data-backed entry plan for a new coffee company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CALL TO ACTION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Four moves for a company starting out</a:t>
            </a:r>
            <a:endParaRPr lang="en-US" sz="2400" dirty="0"/>
          </a:p>
        </p:txBody>
      </p:sp>
      <p:sp>
        <p:nvSpPr>
          <p:cNvPr id="4" name="move 1 card"/>
          <p:cNvSpPr/>
          <p:nvPr/>
        </p:nvSpPr>
        <p:spPr>
          <a:xfrm>
            <a:off x="457200" y="123444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211A16"/>
          </a:solidFill>
          <a:ln/>
        </p:spPr>
      </p:sp>
      <p:sp>
        <p:nvSpPr>
          <p:cNvPr id="5" name="move 1 badge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C8963E"/>
          </a:solidFill>
          <a:ln/>
        </p:spPr>
      </p:sp>
      <p:sp>
        <p:nvSpPr>
          <p:cNvPr id="6" name="move 1 number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move 1 text"/>
          <p:cNvSpPr txBox="1"/>
          <p:nvPr/>
        </p:nvSpPr>
        <p:spPr>
          <a:xfrm>
            <a:off x="1234440" y="1389888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Launch in a large, steady market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The USA, Japan or Italy. All are top-5 markets, grew 25-41%, and change only 2-4% a year.</a:t>
            </a:r>
            <a:endParaRPr lang="en-US" sz="1500" dirty="0"/>
          </a:p>
        </p:txBody>
      </p:sp>
      <p:sp>
        <p:nvSpPr>
          <p:cNvPr id="8" name="move 1 proof"/>
          <p:cNvSpPr txBox="1"/>
          <p:nvPr/>
        </p:nvSpPr>
        <p:spPr>
          <a:xfrm>
            <a:off x="1234440" y="249631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Scorecard ranks 1 to 3</a:t>
            </a:r>
            <a:endParaRPr lang="en-US" sz="1000" dirty="0"/>
          </a:p>
        </p:txBody>
      </p:sp>
      <p:sp>
        <p:nvSpPr>
          <p:cNvPr id="9" name="move 2 card"/>
          <p:cNvSpPr/>
          <p:nvPr/>
        </p:nvSpPr>
        <p:spPr>
          <a:xfrm>
            <a:off x="4617720" y="123444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211A16"/>
          </a:solidFill>
          <a:ln/>
        </p:spPr>
      </p:sp>
      <p:sp>
        <p:nvSpPr>
          <p:cNvPr id="10" name="move 2 badge"/>
          <p:cNvSpPr/>
          <p:nvPr/>
        </p:nvSpPr>
        <p:spPr>
          <a:xfrm>
            <a:off x="4800600" y="1417320"/>
            <a:ext cx="457200" cy="457200"/>
          </a:xfrm>
          <a:prstGeom prst="ellipse">
            <a:avLst/>
          </a:prstGeom>
          <a:solidFill>
            <a:srgbClr val="C8963E"/>
          </a:solidFill>
          <a:ln/>
        </p:spPr>
      </p:sp>
      <p:sp>
        <p:nvSpPr>
          <p:cNvPr id="11" name="move 2 number"/>
          <p:cNvSpPr txBox="1"/>
          <p:nvPr/>
        </p:nvSpPr>
        <p:spPr>
          <a:xfrm>
            <a:off x="48006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move 2 text"/>
          <p:cNvSpPr txBox="1"/>
          <p:nvPr/>
        </p:nvSpPr>
        <p:spPr>
          <a:xfrm>
            <a:off x="5394960" y="1389888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Add a growth market next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Russia (+168%) or Poland (+92%). Faster growth, but demand swings 16-17% a year.</a:t>
            </a:r>
            <a:endParaRPr lang="en-US" sz="1500" dirty="0"/>
          </a:p>
        </p:txBody>
      </p:sp>
      <p:sp>
        <p:nvSpPr>
          <p:cNvPr id="13" name="move 2 proof"/>
          <p:cNvSpPr txBox="1"/>
          <p:nvPr/>
        </p:nvSpPr>
        <p:spPr>
          <a:xfrm>
            <a:off x="5394960" y="249631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Yearly swing 16-17% vs 2-4%</a:t>
            </a:r>
            <a:endParaRPr lang="en-US" sz="1000" dirty="0"/>
          </a:p>
        </p:txBody>
      </p:sp>
      <p:sp>
        <p:nvSpPr>
          <p:cNvPr id="14" name="move 3 card"/>
          <p:cNvSpPr/>
          <p:nvPr/>
        </p:nvSpPr>
        <p:spPr>
          <a:xfrm>
            <a:off x="457200" y="297180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211A16"/>
          </a:solidFill>
          <a:ln/>
        </p:spPr>
      </p:sp>
      <p:sp>
        <p:nvSpPr>
          <p:cNvPr id="15" name="move 3 badge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C8963E"/>
          </a:solidFill>
          <a:ln/>
        </p:spPr>
      </p:sp>
      <p:sp>
        <p:nvSpPr>
          <p:cNvPr id="16" name="move 3 number"/>
          <p:cNvSpPr txBox="1"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move 3 text"/>
          <p:cNvSpPr txBox="1"/>
          <p:nvPr/>
        </p:nvSpPr>
        <p:spPr>
          <a:xfrm>
            <a:off x="1234440" y="3127248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Source from two regions, not one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Brazil and Vietnam make 54% of all coffee, and Brazil's crop swings about 25% a year. Add a steady or rising origin: Ethiopia, Colombia or Honduras.</a:t>
            </a:r>
            <a:endParaRPr lang="en-US" sz="1500" dirty="0"/>
          </a:p>
        </p:txBody>
      </p:sp>
      <p:sp>
        <p:nvSpPr>
          <p:cNvPr id="18" name="move 3 proof"/>
          <p:cNvSpPr txBox="1"/>
          <p:nvPr/>
        </p:nvSpPr>
        <p:spPr>
          <a:xfrm>
            <a:off x="1234440" y="42336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Ethiopia +168%, swing 14% a year</a:t>
            </a:r>
            <a:endParaRPr lang="en-US" sz="1000" dirty="0"/>
          </a:p>
        </p:txBody>
      </p:sp>
      <p:sp>
        <p:nvSpPr>
          <p:cNvPr id="19" name="move 4 card"/>
          <p:cNvSpPr/>
          <p:nvPr/>
        </p:nvSpPr>
        <p:spPr>
          <a:xfrm>
            <a:off x="4617720" y="297180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211A16"/>
          </a:solidFill>
          <a:ln/>
        </p:spPr>
      </p:sp>
      <p:sp>
        <p:nvSpPr>
          <p:cNvPr id="20" name="move 4 badge"/>
          <p:cNvSpPr/>
          <p:nvPr/>
        </p:nvSpPr>
        <p:spPr>
          <a:xfrm>
            <a:off x="4800600" y="3154680"/>
            <a:ext cx="457200" cy="457200"/>
          </a:xfrm>
          <a:prstGeom prst="ellipse">
            <a:avLst/>
          </a:prstGeom>
          <a:solidFill>
            <a:srgbClr val="C8963E"/>
          </a:solidFill>
          <a:ln/>
        </p:spPr>
      </p:sp>
      <p:sp>
        <p:nvSpPr>
          <p:cNvPr id="21" name="move 4 number"/>
          <p:cNvSpPr txBox="1"/>
          <p:nvPr/>
        </p:nvSpPr>
        <p:spPr>
          <a:xfrm>
            <a:off x="480060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move 4 text"/>
          <p:cNvSpPr txBox="1"/>
          <p:nvPr/>
        </p:nvSpPr>
        <p:spPr>
          <a:xfrm>
            <a:off x="5394960" y="3127248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Distribute through a European hub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Belgium, the Netherlands and Germany already re-export 60-78% of their imports, so the routes to the rest of Europe exist.</a:t>
            </a:r>
            <a:endParaRPr lang="en-US" sz="1500" dirty="0"/>
          </a:p>
        </p:txBody>
      </p:sp>
      <p:sp>
        <p:nvSpPr>
          <p:cNvPr id="23" name="move 4 proof"/>
          <p:cNvSpPr txBox="1"/>
          <p:nvPr/>
        </p:nvSpPr>
        <p:spPr>
          <a:xfrm>
            <a:off x="5394960" y="42336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Re-export share, 2015-19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5A9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SOURCING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Rising origins can back up Brazil and Vietnam</a:t>
            </a:r>
            <a:endParaRPr lang="en-US" sz="2400" dirty="0"/>
          </a:p>
        </p:txBody>
      </p:sp>
      <p:pic>
        <p:nvPicPr>
          <p:cNvPr id="4" name="08_sourcing_options chart snippet" descr="/mnt/project-files/coffee-project/release/figures/08_sourcing_op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7560" y="1188720"/>
            <a:ext cx="5577840" cy="3384908"/>
          </a:xfrm>
          <a:prstGeom prst="rect">
            <a:avLst/>
          </a:prstGeom>
        </p:spPr>
      </p:pic>
      <p:sp>
        <p:nvSpPr>
          <p:cNvPr id="5" name="undefined number"/>
          <p:cNvSpPr txBox="1"/>
          <p:nvPr/>
        </p:nvSpPr>
        <p:spPr>
          <a:xfrm>
            <a:off x="457200" y="132588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3400" dirty="0"/>
          </a:p>
        </p:txBody>
      </p:sp>
      <p:sp>
        <p:nvSpPr>
          <p:cNvPr id="6" name="undefined label"/>
          <p:cNvSpPr txBox="1"/>
          <p:nvPr/>
        </p:nvSpPr>
        <p:spPr>
          <a:xfrm>
            <a:off x="457200" y="191109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of 2019 output came from Brazil and Vietnam</a:t>
            </a:r>
            <a:endParaRPr lang="en-US" sz="1300" dirty="0"/>
          </a:p>
        </p:txBody>
      </p:sp>
      <p:sp>
        <p:nvSpPr>
          <p:cNvPr id="7" name="sourcing points"/>
          <p:cNvSpPr txBox="1"/>
          <p:nvPr/>
        </p:nvSpPr>
        <p:spPr>
          <a:xfrm>
            <a:off x="457200" y="2514600"/>
            <a:ext cx="2697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Peru and Honduras more than tripled their output.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Ethiopia grew 168% and is now the #5 producer.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Colombia and Mexico did not grow.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5A9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clusion photo" descr="/tmp/claude-0/-home-claude/709e0a8c-32d6-5fa2-98a9-558f49637e18/scratchpad/work/img/cu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20640" y="0"/>
            <a:ext cx="4023360" cy="5143500"/>
          </a:xfrm>
          <a:prstGeom prst="rect">
            <a:avLst/>
          </a:prstGeom>
        </p:spPr>
      </p:pic>
      <p:sp>
        <p:nvSpPr>
          <p:cNvPr id="3" name="conclusion eyebrow"/>
          <p:cNvSpPr txBox="1"/>
          <p:nvPr/>
        </p:nvSpPr>
        <p:spPr>
          <a:xfrm>
            <a:off x="457200" y="4572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4" name="conclusion title"/>
          <p:cNvSpPr txBox="1"/>
          <p:nvPr/>
        </p:nvSpPr>
        <p:spPr>
          <a:xfrm>
            <a:off x="457200" y="7315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data says</a:t>
            </a:r>
            <a:endParaRPr lang="en-US" sz="2800" dirty="0"/>
          </a:p>
        </p:txBody>
      </p:sp>
      <p:sp>
        <p:nvSpPr>
          <p:cNvPr id="5" name="conclusion Supply"/>
          <p:cNvSpPr txBox="1"/>
          <p:nvPr/>
        </p:nvSpPr>
        <p:spPr>
          <a:xfrm>
            <a:off x="457200" y="150876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Supply 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Brazil and Vietnam now make over half the world's coffee.</a:t>
            </a:r>
            <a:endParaRPr lang="en-US" sz="1400" dirty="0"/>
          </a:p>
        </p:txBody>
      </p:sp>
      <p:sp>
        <p:nvSpPr>
          <p:cNvPr id="6" name="conclusion Demand"/>
          <p:cNvSpPr txBox="1"/>
          <p:nvPr/>
        </p:nvSpPr>
        <p:spPr>
          <a:xfrm>
            <a:off x="457200" y="22860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Demand 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The USA is the biggest and steadiest market; Japan and Italy follow.</a:t>
            </a:r>
            <a:endParaRPr lang="en-US" sz="1400" dirty="0"/>
          </a:p>
        </p:txBody>
      </p:sp>
      <p:sp>
        <p:nvSpPr>
          <p:cNvPr id="7" name="conclusion Growth"/>
          <p:cNvSpPr txBox="1"/>
          <p:nvPr/>
        </p:nvSpPr>
        <p:spPr>
          <a:xfrm>
            <a:off x="457200" y="306324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Growth 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Greece, Russia, Romania and Poland grew fastest among markets above 50M.</a:t>
            </a:r>
            <a:endParaRPr lang="en-US" sz="1400" dirty="0"/>
          </a:p>
        </p:txBody>
      </p:sp>
      <p:sp>
        <p:nvSpPr>
          <p:cNvPr id="8" name="conclusion Supply risk"/>
          <p:cNvSpPr txBox="1"/>
          <p:nvPr/>
        </p:nvSpPr>
        <p:spPr>
          <a:xfrm>
            <a:off x="457200" y="384048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Supply risk 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Brazil's crop swings about 25% a year; India, Colombia, Mexico and Ethiopia are the steadiest big origins.</a:t>
            </a:r>
            <a:endParaRPr lang="en-US" sz="1400" dirty="0"/>
          </a:p>
        </p:txBody>
      </p:sp>
      <p:sp>
        <p:nvSpPr>
          <p:cNvPr id="9" name="Text 0"/>
          <p:cNvSpPr/>
          <p:nvPr>
            <p:ph idx="100" type="body" hasCustomPrompt="1"/>
          </p:nvPr>
        </p:nvSpPr>
        <p:spPr>
          <a:xfrm>
            <a:off x="457200" y="29260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spresso Gold">
  <a:themeElements>
    <a:clrScheme name="Espresso Gold">
      <a:dk1>
        <a:srgbClr val="15110E"/>
      </a:dk1>
      <a:lt1>
        <a:srgbClr val="FFFFFF"/>
      </a:lt1>
      <a:dk2>
        <a:srgbClr val="211A16"/>
      </a:dk2>
      <a:lt2>
        <a:srgbClr val="F3ECE4"/>
      </a:lt2>
      <a:accent1>
        <a:srgbClr val="C8963E"/>
      </a:accent1>
      <a:accent2>
        <a:srgbClr val="B5352B"/>
      </a:accent2>
      <a:accent3>
        <a:srgbClr val="3E7B5A"/>
      </a:accent3>
      <a:accent4>
        <a:srgbClr val="5B6F86"/>
      </a:accent4>
      <a:accent5>
        <a:srgbClr val="D9C3A5"/>
      </a:accent5>
      <a:accent6>
        <a:srgbClr val="B5A99C"/>
      </a:accent6>
      <a:hlink>
        <a:srgbClr val="C8963E"/>
      </a:hlink>
      <a:folHlink>
        <a:srgbClr val="B5A99C"/>
      </a:folHlink>
    </a:clrScheme>
    <a:fontScheme name="Espresso Gol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Inferences from the Coffee Dataset</dc:title>
  <dc:subject>PptxGenJS Presentation</dc:subject>
  <dc:creator>Mercy Olaosebikan</dc:creator>
  <cp:lastModifiedBy>Mercy Olaosebikan</cp:lastModifiedBy>
  <cp:revision>1</cp:revision>
  <dcterms:created xsi:type="dcterms:W3CDTF">2026-10-06T12:12:43Z</dcterms:created>
  <dcterms:modified xsi:type="dcterms:W3CDTF">2026-10-06T12:12:43Z</dcterms:modified>
</cp:coreProperties>
</file>